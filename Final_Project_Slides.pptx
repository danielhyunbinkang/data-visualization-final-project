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84"/>
    <p:restoredTop sz="94613"/>
  </p:normalViewPr>
  <p:slideViewPr>
    <p:cSldViewPr snapToGrid="0">
      <p:cViewPr>
        <p:scale>
          <a:sx n="63" d="100"/>
          <a:sy n="63" d="100"/>
        </p:scale>
        <p:origin x="-328" y="1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C6CA949-81EE-9E4B-9753-0DAE5738649F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98F45EF-66AD-ED4C-B0AA-7273D794A3F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3691211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CA949-81EE-9E4B-9753-0DAE5738649F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F45EF-66AD-ED4C-B0AA-7273D794A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66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6CA949-81EE-9E4B-9753-0DAE5738649F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98F45EF-66AD-ED4C-B0AA-7273D794A3F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1418559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CA949-81EE-9E4B-9753-0DAE5738649F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F45EF-66AD-ED4C-B0AA-7273D794A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481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CA949-81EE-9E4B-9753-0DAE5738649F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F45EF-66AD-ED4C-B0AA-7273D794A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086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CA949-81EE-9E4B-9753-0DAE5738649F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F45EF-66AD-ED4C-B0AA-7273D794A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002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CA949-81EE-9E4B-9753-0DAE5738649F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F45EF-66AD-ED4C-B0AA-7273D794A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32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6CA949-81EE-9E4B-9753-0DAE5738649F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98F45EF-66AD-ED4C-B0AA-7273D794A3F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63735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6CA949-81EE-9E4B-9753-0DAE5738649F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98F45EF-66AD-ED4C-B0AA-7273D794A3F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94836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CA949-81EE-9E4B-9753-0DAE5738649F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F45EF-66AD-ED4C-B0AA-7273D794A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889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CA949-81EE-9E4B-9753-0DAE5738649F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F45EF-66AD-ED4C-B0AA-7273D794A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280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CC6CA949-81EE-9E4B-9753-0DAE5738649F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898F45EF-66AD-ED4C-B0AA-7273D794A3F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7818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5CADA-0A07-C5A9-F8CF-082F71CF04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000" b="1" dirty="0"/>
              <a:t>Health System Capacity and Life Expectancy Across Countries</a:t>
            </a:r>
            <a:endParaRPr lang="en-US" sz="5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9556C7-F9AE-D5A1-96DD-B1E0ECA052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Daniel Kang</a:t>
            </a:r>
          </a:p>
          <a:p>
            <a:r>
              <a:rPr lang="en-US" dirty="0"/>
              <a:t>DATS 2102: Data Visualization Final Project</a:t>
            </a:r>
          </a:p>
        </p:txBody>
      </p:sp>
    </p:spTree>
    <p:extLst>
      <p:ext uri="{BB962C8B-B14F-4D97-AF65-F5344CB8AC3E}">
        <p14:creationId xmlns:p14="http://schemas.microsoft.com/office/powerpoint/2010/main" val="2836597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0ED3A-5258-2369-0ABE-32976D5F4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1DB28-DF11-43EC-6F74-BCED36F7E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do differences in healthcare infrastructure across countries relate to variation in life expectancy over time?</a:t>
            </a:r>
            <a:endParaRPr lang="en-US" dirty="0"/>
          </a:p>
          <a:p>
            <a:pPr lvl="1"/>
            <a:r>
              <a:rPr lang="en-US" dirty="0"/>
              <a:t>Focus on cross-country comparison</a:t>
            </a:r>
          </a:p>
          <a:p>
            <a:pPr lvl="1"/>
            <a:r>
              <a:rPr lang="en-US" dirty="0"/>
              <a:t>Designed for a non-expert audience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388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5A41D-F31D-F981-AFFD-BDBF70C18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FC72A-67B3-19E0-F90E-210739621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&amp;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211CE-812E-5B0E-2CD1-5CFDEA7F6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World Bank World Development Indicators (WDI)</a:t>
            </a:r>
            <a:endParaRPr lang="en-US" dirty="0"/>
          </a:p>
          <a:p>
            <a:pPr lvl="1"/>
            <a:r>
              <a:rPr lang="en-US" dirty="0"/>
              <a:t>Life expectancy at birth (years)</a:t>
            </a:r>
          </a:p>
          <a:p>
            <a:pPr lvl="1"/>
            <a:r>
              <a:rPr lang="en-US" dirty="0"/>
              <a:t>Physicians per 1,000 people</a:t>
            </a:r>
          </a:p>
          <a:p>
            <a:pPr lvl="1"/>
            <a:r>
              <a:rPr lang="en-US" dirty="0"/>
              <a:t>Hospital beds per 1,000 people</a:t>
            </a:r>
          </a:p>
          <a:p>
            <a:pPr lvl="1"/>
            <a:r>
              <a:rPr lang="en-US" dirty="0"/>
              <a:t>World Bank regional classifications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8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B46838-3DCB-F1ED-E0A4-8325DB167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8E0FD-7D9C-F2CD-3723-8471E9987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b="1" dirty="0"/>
              <a:t>Distribution of Health System Capacity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96BCC-8F00-3A8A-07F9-2E832148C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5072437" cy="3581400"/>
          </a:xfrm>
        </p:spPr>
        <p:txBody>
          <a:bodyPr>
            <a:normAutofit/>
          </a:bodyPr>
          <a:lstStyle/>
          <a:p>
            <a:r>
              <a:rPr lang="en-US" sz="1800" b="1" dirty="0"/>
              <a:t>Physician availability varies widely across countries</a:t>
            </a:r>
            <a:endParaRPr lang="en-US" sz="1800" dirty="0"/>
          </a:p>
          <a:p>
            <a:pPr lvl="1"/>
            <a:r>
              <a:rPr lang="en-US" sz="1800" dirty="0"/>
              <a:t>Most countries have low physician density</a:t>
            </a:r>
          </a:p>
          <a:p>
            <a:pPr lvl="1"/>
            <a:r>
              <a:rPr lang="en-US" sz="1800" dirty="0"/>
              <a:t>A small number of countries have very high capacity</a:t>
            </a:r>
          </a:p>
          <a:p>
            <a:pPr lvl="1"/>
            <a:r>
              <a:rPr lang="en-US" sz="1800" dirty="0"/>
              <a:t>Distribution is right-skewed</a:t>
            </a:r>
          </a:p>
          <a:p>
            <a:endParaRPr lang="en-US" sz="1800" dirty="0"/>
          </a:p>
        </p:txBody>
      </p:sp>
      <p:pic>
        <p:nvPicPr>
          <p:cNvPr id="5" name="Picture 4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00AB0F32-6139-39B6-65FE-CBD6B2B44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641" y="2545238"/>
            <a:ext cx="5105445" cy="315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753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0BDA38-601B-5818-7032-7C85FD684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5537-FA1E-498A-4E3F-76B0E80C7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>
            <a:normAutofit/>
          </a:bodyPr>
          <a:lstStyle/>
          <a:p>
            <a:r>
              <a:rPr lang="en-US" sz="3400" b="1"/>
              <a:t>Regional Differences in Capacity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3970B-F81E-DC40-8D02-7AAFA1D3C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3282694" cy="3581400"/>
          </a:xfrm>
        </p:spPr>
        <p:txBody>
          <a:bodyPr>
            <a:normAutofit/>
          </a:bodyPr>
          <a:lstStyle/>
          <a:p>
            <a:r>
              <a:rPr lang="en-US" sz="1700" b="1"/>
              <a:t>Health system capacity differs substantially by region</a:t>
            </a:r>
            <a:endParaRPr lang="en-US" sz="1700"/>
          </a:p>
          <a:p>
            <a:pPr lvl="1"/>
            <a:r>
              <a:rPr lang="en-US" sz="1700"/>
              <a:t>Europe &amp; Central Asia show higher median physician density</a:t>
            </a:r>
          </a:p>
          <a:p>
            <a:pPr lvl="1"/>
            <a:r>
              <a:rPr lang="en-US" sz="1700"/>
              <a:t>Sub-Saharan Africa and South Asia have lower capacity</a:t>
            </a:r>
          </a:p>
          <a:p>
            <a:pPr lvl="1"/>
            <a:r>
              <a:rPr lang="en-US" sz="1700"/>
              <a:t>Wide variation exists within regions</a:t>
            </a:r>
          </a:p>
          <a:p>
            <a:endParaRPr lang="en-US" sz="1700"/>
          </a:p>
        </p:txBody>
      </p:sp>
      <p:pic>
        <p:nvPicPr>
          <p:cNvPr id="5" name="Picture 4" descr="A graph with blue and black squares&#10;&#10;AI-generated content may be incorrect.">
            <a:extLst>
              <a:ext uri="{FF2B5EF4-FFF2-40B4-BE49-F238E27FC236}">
                <a16:creationId xmlns:a16="http://schemas.microsoft.com/office/drawing/2014/main" id="{4BCDD6EA-FF30-DF84-EB9B-753090192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467" y="1656005"/>
            <a:ext cx="6517065" cy="322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772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D3E283-BD40-B415-F2E1-6E5C5DB9B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8FCCE-22F2-E6B3-BE37-B79A82FFD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>
            <a:normAutofit/>
          </a:bodyPr>
          <a:lstStyle/>
          <a:p>
            <a:r>
              <a:rPr lang="en-US" sz="3700" b="1"/>
              <a:t>Capacity vs Life Expectancy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85F34-090A-4EEF-BEBA-2ED9E1ACF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3282694" cy="3581400"/>
          </a:xfrm>
        </p:spPr>
        <p:txBody>
          <a:bodyPr>
            <a:normAutofit/>
          </a:bodyPr>
          <a:lstStyle/>
          <a:p>
            <a:r>
              <a:rPr lang="en-US" sz="1700" b="1"/>
              <a:t>Higher health system capacity is associated with longer lives</a:t>
            </a:r>
            <a:endParaRPr lang="en-US" sz="1700"/>
          </a:p>
          <a:p>
            <a:pPr lvl="1"/>
            <a:r>
              <a:rPr lang="en-US" sz="1700"/>
              <a:t>Countries with more physicians tend to cluster at higher life expectancy</a:t>
            </a:r>
          </a:p>
          <a:p>
            <a:pPr lvl="1"/>
            <a:r>
              <a:rPr lang="en-US" sz="1700"/>
              <a:t>Relationship is positive but not linear</a:t>
            </a:r>
          </a:p>
          <a:p>
            <a:pPr lvl="1"/>
            <a:r>
              <a:rPr lang="en-US" sz="1700"/>
              <a:t>Regional patterns remain visible</a:t>
            </a:r>
          </a:p>
          <a:p>
            <a:endParaRPr lang="en-US" sz="1700"/>
          </a:p>
        </p:txBody>
      </p:sp>
      <p:pic>
        <p:nvPicPr>
          <p:cNvPr id="5" name="Picture 4" descr="A graph with many colored dots&#10;&#10;AI-generated content may be incorrect.">
            <a:extLst>
              <a:ext uri="{FF2B5EF4-FFF2-40B4-BE49-F238E27FC236}">
                <a16:creationId xmlns:a16="http://schemas.microsoft.com/office/drawing/2014/main" id="{BECA2844-5AC0-05C5-A948-FF43FA961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467" y="841373"/>
            <a:ext cx="6517065" cy="485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57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1BA12F-254B-B671-3250-56BE069C0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8C110B4-D26A-44C6-8576-236CA24E9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F14403-B328-7F8E-9C84-6B3B8C756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750" y="4278245"/>
            <a:ext cx="4913384" cy="1762969"/>
          </a:xfrm>
        </p:spPr>
        <p:txBody>
          <a:bodyPr>
            <a:normAutofit/>
          </a:bodyPr>
          <a:lstStyle/>
          <a:p>
            <a:r>
              <a:rPr lang="en-US" b="1" dirty="0"/>
              <a:t>Correlations &amp; Uncertainty</a:t>
            </a:r>
          </a:p>
        </p:txBody>
      </p:sp>
      <p:pic>
        <p:nvPicPr>
          <p:cNvPr id="7" name="Picture 6" descr="A graph showing the number of people in the region&#10;&#10;AI-generated content may be incorrect.">
            <a:extLst>
              <a:ext uri="{FF2B5EF4-FFF2-40B4-BE49-F238E27FC236}">
                <a16:creationId xmlns:a16="http://schemas.microsoft.com/office/drawing/2014/main" id="{409BF29A-1899-9C59-7DAF-4C34AF41E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6" y="796660"/>
            <a:ext cx="5291668" cy="2606147"/>
          </a:xfrm>
          <a:prstGeom prst="rect">
            <a:avLst/>
          </a:prstGeom>
        </p:spPr>
      </p:pic>
      <p:pic>
        <p:nvPicPr>
          <p:cNvPr id="5" name="Picture 4" descr="A diagram of a number of red squares&#10;&#10;AI-generated content may be incorrect.">
            <a:extLst>
              <a:ext uri="{FF2B5EF4-FFF2-40B4-BE49-F238E27FC236}">
                <a16:creationId xmlns:a16="http://schemas.microsoft.com/office/drawing/2014/main" id="{8CB29E73-1FC7-91EC-A1F6-D959C6FC5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200" y="643467"/>
            <a:ext cx="3290997" cy="2912533"/>
          </a:xfrm>
          <a:prstGeom prst="rect">
            <a:avLst/>
          </a:prstGeom>
        </p:spPr>
      </p:pic>
      <p:sp>
        <p:nvSpPr>
          <p:cNvPr id="18" name="Freeform: Shape 13">
            <a:extLst>
              <a:ext uri="{FF2B5EF4-FFF2-40B4-BE49-F238E27FC236}">
                <a16:creationId xmlns:a16="http://schemas.microsoft.com/office/drawing/2014/main" id="{5BFD4DBB-3229-4DF6-A68A-CD91F8325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434936" y="3856976"/>
            <a:ext cx="1957171" cy="1103687"/>
          </a:xfrm>
          <a:custGeom>
            <a:avLst/>
            <a:gdLst>
              <a:gd name="connsiteX0" fmla="*/ 2017702 w 2017702"/>
              <a:gd name="connsiteY0" fmla="*/ 1137821 h 1137821"/>
              <a:gd name="connsiteX1" fmla="*/ 404 w 2017702"/>
              <a:gd name="connsiteY1" fmla="*/ 1137821 h 1137821"/>
              <a:gd name="connsiteX2" fmla="*/ 0 w 2017702"/>
              <a:gd name="connsiteY2" fmla="*/ 900216 h 1137821"/>
              <a:gd name="connsiteX3" fmla="*/ 1767759 w 2017702"/>
              <a:gd name="connsiteY3" fmla="*/ 901031 h 1137821"/>
              <a:gd name="connsiteX4" fmla="*/ 1767759 w 2017702"/>
              <a:gd name="connsiteY4" fmla="*/ 0 h 1137821"/>
              <a:gd name="connsiteX5" fmla="*/ 2017702 w 2017702"/>
              <a:gd name="connsiteY5" fmla="*/ 0 h 1137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7702" h="1137821">
                <a:moveTo>
                  <a:pt x="2017702" y="1137821"/>
                </a:moveTo>
                <a:lnTo>
                  <a:pt x="404" y="1137821"/>
                </a:lnTo>
                <a:cubicBezTo>
                  <a:pt x="-404" y="1055814"/>
                  <a:pt x="807" y="982224"/>
                  <a:pt x="0" y="900216"/>
                </a:cubicBezTo>
                <a:lnTo>
                  <a:pt x="1767759" y="901031"/>
                </a:lnTo>
                <a:lnTo>
                  <a:pt x="1767759" y="0"/>
                </a:lnTo>
                <a:lnTo>
                  <a:pt x="2017702" y="0"/>
                </a:lnTo>
                <a:close/>
              </a:path>
            </a:pathLst>
          </a:custGeom>
          <a:solidFill>
            <a:schemeClr val="tx2">
              <a:alpha val="8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E0F26-2F1C-BBD6-53C1-040A209D3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3810" y="4278246"/>
            <a:ext cx="4718989" cy="1841856"/>
          </a:xfrm>
        </p:spPr>
        <p:txBody>
          <a:bodyPr>
            <a:normAutofit/>
          </a:bodyPr>
          <a:lstStyle/>
          <a:p>
            <a:r>
              <a:rPr lang="en-US" sz="1400" b="1"/>
              <a:t>Relationships are moderate, not deterministic</a:t>
            </a:r>
            <a:endParaRPr lang="en-US" sz="1400"/>
          </a:p>
          <a:p>
            <a:pPr lvl="1"/>
            <a:r>
              <a:rPr lang="en-US" sz="1400"/>
              <a:t>Life expectancy correlates positively with physicians and hospital beds</a:t>
            </a:r>
          </a:p>
          <a:p>
            <a:pPr lvl="1"/>
            <a:r>
              <a:rPr lang="en-US" sz="1400"/>
              <a:t>Correlations are not strong enough to imply causality</a:t>
            </a:r>
          </a:p>
          <a:p>
            <a:pPr lvl="1"/>
            <a:r>
              <a:rPr lang="en-US" sz="1400"/>
              <a:t>Regional means overlap when uncertainty is considered</a:t>
            </a:r>
          </a:p>
          <a:p>
            <a:endParaRPr lang="en-US" sz="140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92979E5-1F93-4CE3-975E-3CAEC618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796837" y="5311230"/>
            <a:ext cx="2042265" cy="1213486"/>
          </a:xfrm>
          <a:custGeom>
            <a:avLst/>
            <a:gdLst>
              <a:gd name="connsiteX0" fmla="*/ 1844618 w 2105428"/>
              <a:gd name="connsiteY0" fmla="*/ 0 h 1251016"/>
              <a:gd name="connsiteX1" fmla="*/ 2105428 w 2105428"/>
              <a:gd name="connsiteY1" fmla="*/ 0 h 1251016"/>
              <a:gd name="connsiteX2" fmla="*/ 2105428 w 2105428"/>
              <a:gd name="connsiteY2" fmla="*/ 1251016 h 1251016"/>
              <a:gd name="connsiteX3" fmla="*/ 421 w 2105428"/>
              <a:gd name="connsiteY3" fmla="*/ 1251016 h 1251016"/>
              <a:gd name="connsiteX4" fmla="*/ 0 w 2105428"/>
              <a:gd name="connsiteY4" fmla="*/ 1003081 h 1251016"/>
              <a:gd name="connsiteX5" fmla="*/ 1844618 w 2105428"/>
              <a:gd name="connsiteY5" fmla="*/ 1003931 h 1251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5428" h="1251016">
                <a:moveTo>
                  <a:pt x="1844618" y="0"/>
                </a:moveTo>
                <a:lnTo>
                  <a:pt x="2105428" y="0"/>
                </a:lnTo>
                <a:lnTo>
                  <a:pt x="2105428" y="1251016"/>
                </a:lnTo>
                <a:lnTo>
                  <a:pt x="421" y="1251016"/>
                </a:lnTo>
                <a:cubicBezTo>
                  <a:pt x="-421" y="1165443"/>
                  <a:pt x="842" y="1088654"/>
                  <a:pt x="0" y="1003081"/>
                </a:cubicBezTo>
                <a:lnTo>
                  <a:pt x="1844618" y="1003931"/>
                </a:lnTo>
                <a:close/>
              </a:path>
            </a:pathLst>
          </a:custGeom>
          <a:solidFill>
            <a:schemeClr val="tx2">
              <a:alpha val="8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106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BD284-042F-B752-4688-92E92B399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9F461-A434-828C-5AA1-84DBEDFC4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Takeaways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95065-6906-F86C-D0E3-B2B8C554C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Health system capacity matters, but it is not the full story</a:t>
            </a:r>
          </a:p>
          <a:p>
            <a:r>
              <a:rPr lang="en-US" dirty="0"/>
              <a:t>Countries with similar capacity can have very different outcomes</a:t>
            </a:r>
          </a:p>
          <a:p>
            <a:r>
              <a:rPr lang="en-US" dirty="0"/>
              <a:t>Other factors likely play major roles:</a:t>
            </a:r>
          </a:p>
          <a:p>
            <a:pPr lvl="1"/>
            <a:r>
              <a:rPr lang="en-US" dirty="0"/>
              <a:t>Public health systems</a:t>
            </a:r>
          </a:p>
          <a:p>
            <a:pPr lvl="1"/>
            <a:r>
              <a:rPr lang="en-US" dirty="0"/>
              <a:t>Income and education</a:t>
            </a:r>
          </a:p>
          <a:p>
            <a:pPr lvl="1"/>
            <a:r>
              <a:rPr lang="en-US" dirty="0"/>
              <a:t>Inequality and policy</a:t>
            </a:r>
          </a:p>
        </p:txBody>
      </p:sp>
    </p:spTree>
    <p:extLst>
      <p:ext uri="{BB962C8B-B14F-4D97-AF65-F5344CB8AC3E}">
        <p14:creationId xmlns:p14="http://schemas.microsoft.com/office/powerpoint/2010/main" val="1565998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E646B-5E62-9EBC-DC7A-FC4A49EF5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0D5D2-244F-6E3F-7109-815DC6CB5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B84E4-1762-6FC7-8CC8-97DFEBD38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433894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7</TotalTime>
  <Words>246</Words>
  <Application>Microsoft Macintosh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Franklin Gothic Book</vt:lpstr>
      <vt:lpstr>Crop</vt:lpstr>
      <vt:lpstr>Health System Capacity and Life Expectancy Across Countries</vt:lpstr>
      <vt:lpstr>Research Question</vt:lpstr>
      <vt:lpstr>Data &amp; Indicators</vt:lpstr>
      <vt:lpstr>Distribution of Health System Capacity</vt:lpstr>
      <vt:lpstr>Regional Differences in Capacity</vt:lpstr>
      <vt:lpstr>Capacity vs Life Expectancy</vt:lpstr>
      <vt:lpstr>Correlations &amp; Uncertainty</vt:lpstr>
      <vt:lpstr>Key Takeaways &amp; Limitations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Kang, Daniel Hyunbin</dc:creator>
  <cp:lastModifiedBy>Kang, Daniel Hyunbin</cp:lastModifiedBy>
  <cp:revision>1</cp:revision>
  <dcterms:created xsi:type="dcterms:W3CDTF">2025-12-15T19:01:55Z</dcterms:created>
  <dcterms:modified xsi:type="dcterms:W3CDTF">2025-12-15T19:09:17Z</dcterms:modified>
</cp:coreProperties>
</file>